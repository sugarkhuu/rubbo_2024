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Under float, DC-index inflation (col 4) is near zero regardless of shock. Under peg, CPI inflation and price dispersion spike. Managed float interpolates but with less FX flexibility.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Resource (upstream) transmits most under peg. Services (downstream, low M=0.123) is relatively insulated. Float absorbs the shock via ŝ_t, flattening all sectoral responses.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Managed float achieves lowest total welfare loss by reducing price dispersion (vs peg) while limiting ToT gap (vs float). Price dispersion is the dominant welfare cost in all regimes.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1E40AF">
              <a:alpha val="40000"/>
            </a:srgbClr>
          </a:solidFill>
          <a:ln w="12700">
            <a:solidFill>
              <a:srgbClr val="1E40A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2743200"/>
            <a:ext cx="3657600" cy="3657600"/>
          </a:xfrm>
          <a:prstGeom prst="ellipse">
            <a:avLst/>
          </a:prstGeom>
          <a:solidFill>
            <a:srgbClr val="1D4ED8">
              <a:alpha val="30000"/>
            </a:srgbClr>
          </a:solidFill>
          <a:ln w="12700">
            <a:solidFill>
              <a:srgbClr val="1D4ED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Networks, FX Regimes &amp;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</a:rPr>
              <a:t>Monetary Policy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Extending Rubbo (2024, Econometrica) to a Small Open Economy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</a:rPr>
              <a:t>with Multi-Sector Production Networks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2606040" cy="384048"/>
          </a:xfrm>
          <a:prstGeom prst="roundRect">
            <a:avLst>
              <a:gd name="adj" fmla="val 9524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9319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3-Sector Oil Exporter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3931920"/>
            <a:ext cx="2606040" cy="384048"/>
          </a:xfrm>
          <a:prstGeom prst="roundRect">
            <a:avLst>
              <a:gd name="adj" fmla="val 9524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9319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FX Regime Analysis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3931920"/>
            <a:ext cx="2606040" cy="384048"/>
          </a:xfrm>
          <a:prstGeom prst="roundRect">
            <a:avLst>
              <a:gd name="adj" fmla="val 9524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39319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Network Amplification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15400" y="3931920"/>
            <a:ext cx="2606040" cy="384048"/>
          </a:xfrm>
          <a:prstGeom prst="roundRect">
            <a:avLst>
              <a:gd name="adj" fmla="val 9524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39319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Welfare Decomposition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Calibrated DSGE  ·  Blanchard-Kahn Solution  ·  Rubbo (2024) Extension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Analysis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5852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FX Regime Comparison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25603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Free Float · Hard Peg · Managed Float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Solve via Blanchard-Kahn under each closure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Impulse response functions per regime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743200" cy="5852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86868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Shock Scenario 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011680"/>
            <a:ext cx="25603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Import Price Shock (Ω^F channel)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Foreign Demand Shock (NFA channel)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Domestic TFP Shock (supply channel)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Compare absorption across regimes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822960"/>
            <a:ext cx="2743200" cy="5852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86868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Network × FX Relationships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2011680"/>
            <a:ext cx="25603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Import centrality M_i = [(I−Ω^H)⁻¹Ω^F 1]_i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Rank sectors by FX exposure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Upstream vs downstream amplification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Oil exporter structure effects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52560" y="822960"/>
            <a:ext cx="2743200" cy="5852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0" y="86868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Welfare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0" y="2011680"/>
            <a:ext cx="25603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Rubbo Prop. 3 (open-economy extension)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Decompose: output gap + price dispersion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+ misallocation + Terms-of-Trade gap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Compare regimes: which cost dominates?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Model Environment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840480" cy="5852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Environment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47472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Small open economy (SOE): takes world prices as given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N = 3 domestic sectors with a general I-O network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Calvo pricing: sector i re-optimises with prob. (1−δᵢ) per period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Armington composites: domestic (Ω^H) and imported (Ω^F) inputs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Final consumption: two-level CES — domestic bundle ⊕ foreign bundle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Asset markets: single bond B_t at world rate i*_t with debt-elastic premium 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• Labour unions: sticky wages (optional)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0" y="822960"/>
            <a:ext cx="3931920" cy="5852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914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3-Sector Calibration (Oil Exporter)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356616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426464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Sector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85232" y="1426464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δᵢ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98464" y="1426464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αᵢ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11696" y="1426464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ΩᶠImp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24928" y="1426464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Export 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011680"/>
            <a:ext cx="3566160" cy="566928"/>
          </a:xfrm>
          <a:prstGeom prst="rect">
            <a:avLst/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066544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Resource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85232" y="2066544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0.70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98464" y="2066544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0.30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11696" y="2066544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24928" y="2066544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65%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651760"/>
            <a:ext cx="3566160" cy="566928"/>
          </a:xfrm>
          <a:prstGeom prst="rect">
            <a:avLst/>
          </a:prstGeom>
          <a:solidFill>
            <a:srgbClr val="FCE7F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706624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Manufactur.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85232" y="2706624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0.50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98464" y="2706624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0.50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11696" y="2706624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10%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24928" y="2706624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20%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291840"/>
            <a:ext cx="3566160" cy="566928"/>
          </a:xfrm>
          <a:prstGeom prst="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346704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Services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85232" y="3346704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0.25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98464" y="3346704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0.70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11696" y="3346704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24928" y="3346704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0" y="40416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Derived Network Objects: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0" y="43434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Domar weights λ_D: [0.151,  0.276,  0.913]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DC-index weights w: [0.021,  0.090,  0.889]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centrality M: [0.318,  0.244,  0.123]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95360" y="822960"/>
            <a:ext cx="3337560" cy="5852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78240" y="9144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Three FX Regimes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686800" y="1353312"/>
            <a:ext cx="3154680" cy="1508760"/>
          </a:xfrm>
          <a:prstGeom prst="roundRect">
            <a:avLst>
              <a:gd name="adj" fmla="val 3030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23960" y="14173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Free Float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823960" y="1700784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Taylor rule targets π^DC_t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î_t = φ_π π^DC_t + φ_y ỹ_t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Exchange rate endogenous via UIP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shock absorption in ŝ_t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686800" y="3090672"/>
            <a:ext cx="3154680" cy="1508760"/>
          </a:xfrm>
          <a:prstGeom prst="roundRect">
            <a:avLst>
              <a:gd name="adj" fmla="val 3030"/>
            </a:avLst>
          </a:prstGeom>
          <a:solidFill>
            <a:srgbClr val="DC2626">
              <a:alpha val="12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23960" y="31546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Hard Peg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823960" y="3438144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ŝ_t ≡ 0  (fixed)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î_t = i*_t  (via UIP)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monetary autonomy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shocks transmit domestically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686800" y="4828032"/>
            <a:ext cx="3154680" cy="1508760"/>
          </a:xfrm>
          <a:prstGeom prst="roundRect">
            <a:avLst>
              <a:gd name="adj" fmla="val 3030"/>
            </a:avLst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23960" y="48920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Managed Float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823960" y="5175504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Taylor rule + FX smoothing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î_t = φ_π π^DC + φ_y ỹ + φ_s ŝ_t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Interpolates between float &amp; peg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φ_s = 0 → float; φ_s → ∞ → peg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Core Equations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53212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Marginal Cost (Rubbo eq.15 — open economy)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33272"/>
            <a:ext cx="5349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mcᵢ = αᵢ ŵ_t  +  Σⱼ Ω^H_{ij} p_j  +  Σⱼ Ω^F_{ij}(ŝ_t + p̂*_{Ft})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−  log Aᵢ_t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FX enters exactly like an import-price shock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scaled by the import-input matrix Ω^F.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89320" y="777240"/>
            <a:ext cx="589788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0760" y="822960"/>
            <a:ext cx="5715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Open-Economy Network Phillips Curve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80760" y="1033272"/>
            <a:ext cx="5715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 − ΔΩ^H) π_t = Δ[αŵ_t − (I−Ω^H)p_{t-1}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− log A_t + Ω^F(ŝ_t + p̂*_{Ft})]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+ ρ(I−Δ) E_t π_{t+1}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Identical to Rubbo (16) with Ω→Ω^H, plus ΔΩ^F(ŝ_t+p̂*_Ft).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3657600" cy="1508760"/>
          </a:xfrm>
          <a:prstGeom prst="rect">
            <a:avLst/>
          </a:prstGeom>
          <a:solidFill>
            <a:srgbClr val="F0FDF4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688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UIP Condition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679192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î_t − i*_t = ψ b̂_t + E_t Δŝ_{t+1}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ψ &gt; 0: debt-elastic premium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ensures NFA stationarity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(requires ψ &gt; 1/β − 1 ≈ 0.01)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0" y="2423160"/>
            <a:ext cx="3931920" cy="1508760"/>
          </a:xfrm>
          <a:prstGeom prst="rect">
            <a:avLst/>
          </a:prstGeom>
          <a:solidFill>
            <a:srgbClr val="F0FDF4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4688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CPI and DC-Index Inflation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06240" y="2679192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π^CPI_t = β^{H⊤} p_t + β^F_tot(ŝ_t + p̂*_{Ft})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π^DC_t = Σᵢ wᵢ πᵢ_t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wᵢ ∝ λ_{D,i}(1−δ̂ᵢ)/δ̂ᵢ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π^DC satisfies gap-free NKP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0" y="2423160"/>
            <a:ext cx="3657600" cy="1508760"/>
          </a:xfrm>
          <a:prstGeom prst="rect">
            <a:avLst/>
          </a:prstGeom>
          <a:solidFill>
            <a:srgbClr val="F0FDF4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4688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NFA / Balance of Payments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21040" y="2679192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b̂_t = (1+r* − ψ) b̂_{t-1}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+ Σᵢ xᵢ ŝ_t (export boost)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+ ζ fd_t (demand)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− β^F p̂*_{Ft} (import cost)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Stationary iff ψ &gt; 1/β − 1.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069080"/>
            <a:ext cx="5532120" cy="2560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114800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Open-Economy Divine Coincidence (Proposition 1)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4325112"/>
            <a:ext cx="53492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π^DC_t = ρ E_t π^DC_{t+1} + κ^DC ỹ_t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Zero residual — neither TFP shocks nor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FX/import price shocks appear here.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Proof: embed import nodes as extra fully-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flexible sectors (δ̂_M = 1), zero weight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DC index automatically.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Float targeting π^DC → exchange rate absorbs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ALL external shocks. Peg: both types transmit.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89320" y="4069080"/>
            <a:ext cx="5897880" cy="2560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4114800"/>
            <a:ext cx="5715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Welfare Loss Function (Rubbo Prop.3 — open economy)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80760" y="4325112"/>
            <a:ext cx="57150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½ Σ_t βᵗ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(γ+φ) ỹ_t²                    [output gap]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Σᵢ λ_{D,i} εᵢ/[δ̂ᵢ(1−δ̂ᵢ)] πᵢ_t²  [price disp]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Φ_cross χ̃_t²               [misallocation]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Φ_ToT (t̂_t − t̂_t,nat)²     [ToT gap] 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vs Rubbo: ToT gap term from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inefficient home/foreign relative prices.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IRFs: Three Shocks × Three Regimes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0" y="137160"/>
            <a:ext cx="1005840" cy="384048"/>
          </a:xfrm>
          <a:prstGeom prst="roundRect">
            <a:avLst>
              <a:gd name="adj" fmla="val 952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0" y="137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Float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784080" y="137160"/>
            <a:ext cx="1005840" cy="384048"/>
          </a:xfrm>
          <a:prstGeom prst="roundRect">
            <a:avLst>
              <a:gd name="adj" fmla="val 952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0" y="137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881360" y="137160"/>
            <a:ext cx="1005840" cy="384048"/>
          </a:xfrm>
          <a:prstGeom prst="roundRect">
            <a:avLst>
              <a:gd name="adj" fmla="val 952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81360" y="137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Managed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713232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Each column: CPI inflation · Output gap · Exchange rate · DC-index inflation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24128"/>
            <a:ext cx="11612880" cy="56509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Sectoral Inflation — Import Price Shock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0" y="137160"/>
            <a:ext cx="1005840" cy="384048"/>
          </a:xfrm>
          <a:prstGeom prst="roundRect">
            <a:avLst>
              <a:gd name="adj" fmla="val 952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0" y="137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Float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784080" y="137160"/>
            <a:ext cx="1005840" cy="384048"/>
          </a:xfrm>
          <a:prstGeom prst="roundRect">
            <a:avLst>
              <a:gd name="adj" fmla="val 952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0" y="137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881360" y="137160"/>
            <a:ext cx="1005840" cy="384048"/>
          </a:xfrm>
          <a:prstGeom prst="roundRect">
            <a:avLst>
              <a:gd name="adj" fmla="val 952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81360" y="137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Managed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713232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Resource sector has highest import centrality (M=0.318) → largest inflation response under peg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24128"/>
            <a:ext cx="11612880" cy="56509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Production Network × FX Shock Relationships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2296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777240"/>
            <a:ext cx="3246120" cy="3840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69680" y="868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Key Result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869680" y="1261872"/>
            <a:ext cx="2880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Centrality: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Mᵢ = [(I−Ω^H)⁻¹ Ω^F 1]_i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Resource:  M = 0.318  ▲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Manufact:  M = 0.244  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 M = 0.123  ▼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PEG, pass-through of FX shock to sector i inflation is proportional to Mᵢ.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FLOAT, Mᵢ is irrelevant — exchange rate absorbs everything.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4754880"/>
            <a:ext cx="3794760" cy="1828800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4846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Upstream sectors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5230368"/>
            <a:ext cx="3520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High Ω^F → high Mᵢ → transmit most under peg (Resource)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33672" y="4754880"/>
            <a:ext cx="3794760" cy="1828800"/>
          </a:xfrm>
          <a:prstGeom prst="rect">
            <a:avLst/>
          </a:prstGeom>
          <a:solidFill>
            <a:srgbClr val="D97706">
              <a:alpha val="1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70832" y="4846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Network amplification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70832" y="5230368"/>
            <a:ext cx="3520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Leontief (I−Ω^H)⁻¹ magnifies direct import shares via domestic supply chains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193024" y="4754880"/>
            <a:ext cx="3794760" cy="1828800"/>
          </a:xfrm>
          <a:prstGeom prst="rect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30184" y="4846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Regime matters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330184" y="5230368"/>
            <a:ext cx="3520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Same network, different regime → entirely different inflation dynamics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Divine Coincidence Index — Insulation Property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758952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46720" y="777240"/>
            <a:ext cx="3840480" cy="35661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0" y="868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Proposition 1 (Open-Economy DC)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0" y="1298448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π^DC_t = ρ E_t π^DC_{t+1} + κ^DC ỹ_t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cost-push residual — neither domestic TFP shocks nor exchange rate / import price shocks appear.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Embed import nodes as extra fully-flexible sectors (δ̂_M = 1). Fully flexible nodes get zero weight in the DC index. Rubbo Prop. 1 applies verbatim to the augmented network.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Float targeting π^DC: exchange rate absorbs ALL shocks.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Peg: both types transmit fully.</a:t>
            </a:r>
            <a:endParaRPr lang="en-US" sz="980" dirty="0"/>
          </a:p>
        </p:txBody>
      </p:sp>
      <p:sp>
        <p:nvSpPr>
          <p:cNvPr id="8" name="Shape 5"/>
          <p:cNvSpPr/>
          <p:nvPr/>
        </p:nvSpPr>
        <p:spPr>
          <a:xfrm>
            <a:off x="274320" y="4480560"/>
            <a:ext cx="1161288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5720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DC-Index Weights Interpretation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956048"/>
            <a:ext cx="11247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wᵢ ∝ λ_{D,i} · (1−δ̂ᵢ)/δ̂ᵢ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Services gets w = 0.889 — most weight — because: (a) large Domar weight λ_{D,i} = 0.913 (central domestic supplier), (b) high price stickiness (1−δ)/δ = 3.0 (maximises cost-push amplification per unit of wage change).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Resource gets w = 0.021 — near zero — because δ = 0.70 (flexible prices) and low domestic centrality. Under peg, Resource's large Ω^F transmits FX shocks to CPI, but not to DC index.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Welfare Decomposition by FX Regime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0" y="137160"/>
            <a:ext cx="1005840" cy="384048"/>
          </a:xfrm>
          <a:prstGeom prst="roundRect">
            <a:avLst>
              <a:gd name="adj" fmla="val 952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0" y="137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Float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784080" y="137160"/>
            <a:ext cx="1005840" cy="384048"/>
          </a:xfrm>
          <a:prstGeom prst="roundRect">
            <a:avLst>
              <a:gd name="adj" fmla="val 952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0" y="137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881360" y="137160"/>
            <a:ext cx="1005840" cy="384048"/>
          </a:xfrm>
          <a:prstGeom prst="roundRect">
            <a:avLst>
              <a:gd name="adj" fmla="val 952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81360" y="137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Managed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713232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Peg: dominated by price dispersion. Float vs Managed: trade-off between output gap and ToT gap.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24128"/>
            <a:ext cx="11612880" cy="56509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Managed Float: Policy Trade-offs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22960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0" y="777240"/>
            <a:ext cx="3246120" cy="374904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869680" y="868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Policy Insight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869680" y="1261872"/>
            <a:ext cx="28803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As φ_s increases from 0: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→ FX volatility decreases monotonically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→ Welfare is U-shaped: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   • Low φ_s ≈ float — efficient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   • Optimal φ_s* minimises loss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   • High φ_s ≈ peg — costly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Optimal managed float sits between pure float and peg.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Key: country structure (Ω^F, export shares) determines where the optimum lies.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4663440"/>
            <a:ext cx="1161288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7365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Welfare Summary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5056632"/>
            <a:ext cx="192024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5056632"/>
            <a:ext cx="19202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Regime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304288" y="5056632"/>
            <a:ext cx="192024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04288" y="5056632"/>
            <a:ext cx="19202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Output Gap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242816" y="5056632"/>
            <a:ext cx="192024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42816" y="5056632"/>
            <a:ext cx="19202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Price Dispersion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81344" y="5056632"/>
            <a:ext cx="192024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81344" y="5056632"/>
            <a:ext cx="19202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Misallocation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119872" y="5056632"/>
            <a:ext cx="192024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19872" y="5056632"/>
            <a:ext cx="19202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 Gap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0058400" y="5056632"/>
            <a:ext cx="192024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0" y="5056632"/>
            <a:ext cx="19202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65760" y="5422392"/>
            <a:ext cx="19202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5422392"/>
            <a:ext cx="19202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Free Float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304288" y="5422392"/>
            <a:ext cx="19202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304288" y="5422392"/>
            <a:ext cx="19202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20,745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242816" y="5422392"/>
            <a:ext cx="19202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42816" y="5422392"/>
            <a:ext cx="19202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219,963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181344" y="5422392"/>
            <a:ext cx="19202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81344" y="5422392"/>
            <a:ext cx="19202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860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119872" y="5422392"/>
            <a:ext cx="19202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119872" y="5422392"/>
            <a:ext cx="19202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1.3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0058400" y="5422392"/>
            <a:ext cx="19202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058400" y="5422392"/>
            <a:ext cx="19202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241,570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65760" y="5769864"/>
            <a:ext cx="192024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65760" y="5769864"/>
            <a:ext cx="19202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Hard Peg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304288" y="5769864"/>
            <a:ext cx="192024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304288" y="5769864"/>
            <a:ext cx="19202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101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242816" y="5769864"/>
            <a:ext cx="192024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242816" y="5769864"/>
            <a:ext cx="19202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822,449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181344" y="5769864"/>
            <a:ext cx="192024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181344" y="5769864"/>
            <a:ext cx="19202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3,211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8119872" y="5769864"/>
            <a:ext cx="192024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119872" y="5769864"/>
            <a:ext cx="19202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0.0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10058400" y="5769864"/>
            <a:ext cx="192024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058400" y="5769864"/>
            <a:ext cx="19202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825,762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65760" y="6117336"/>
            <a:ext cx="19202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65760" y="6117336"/>
            <a:ext cx="19202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Managed Float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2304288" y="6117336"/>
            <a:ext cx="19202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304288" y="6117336"/>
            <a:ext cx="19202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14,079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4242816" y="6117336"/>
            <a:ext cx="19202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242816" y="6117336"/>
            <a:ext cx="19202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149,210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6181344" y="6117336"/>
            <a:ext cx="19202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181344" y="6117336"/>
            <a:ext cx="19202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583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8119872" y="6117336"/>
            <a:ext cx="19202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119872" y="6117336"/>
            <a:ext cx="19202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0.25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10058400" y="6117336"/>
            <a:ext cx="192024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058400" y="6117336"/>
            <a:ext cx="19202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163,872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2444"/>
          </a:solidFill>
          <a:ln w="12700">
            <a:solidFill>
              <a:srgbClr val="0F2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Results &amp; Contributions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79476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3268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3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969264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Open-Economy DC Index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44752"/>
            <a:ext cx="352044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The Rubbo (2024) DC index extends to the SOE by treating import nodes as fully-flexible sectors. The DC Phillips curve has zero residual to both TFP and FX shocks — identical structure regardless of network topology.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33672" y="822960"/>
            <a:ext cx="379476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932688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93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19472" y="969264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FX Regime × Network Structure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70832" y="1444752"/>
            <a:ext cx="352044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Under a peg, sectoral inflation response to FX shocks is proportional to import centrality Mᵢ. Resource (M=0.318) transmits ~2.6× more than Services (M=0.123). Under float, all Mᵢ are irrelevant.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93024" y="822960"/>
            <a:ext cx="379476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0184" y="932688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932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78824" y="969264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Welfare Ordering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30184" y="1444752"/>
            <a:ext cx="352044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Managed float (W=163,872) &lt; Float (241,570) &lt;&lt; Peg (825,762). The peg is costly primarily through price dispersion (99.6% of its welfare loss). Float trades lower price dispersion for a ToT gap.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657600"/>
            <a:ext cx="379476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767328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803904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Upstream Amplification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279392"/>
            <a:ext cx="352044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In an oil-exporting economy, the upstream Resource sector has the highest Ω^F but lowest DC weight (w=0.021). The peg creates large CPI pass-through but the DC index remains stable if float is maintained.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33672" y="3657600"/>
            <a:ext cx="379476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76732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9472" y="3803904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Optimal Managed Float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70832" y="4279392"/>
            <a:ext cx="352044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Welfare is U-shaped in φ_s. Optimal FX smoothing is interior: neither full float nor peg. The optimum shifts with Ω^F intensity — more import-dependent economies benefit from more FX stability.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93024" y="3657600"/>
            <a:ext cx="379476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0184" y="376732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0184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78824" y="3803904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Welfare Decomposition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30184" y="4279392"/>
            <a:ext cx="3520440" cy="1938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Four components: output gap, price dispersion, misallocation, ToT gap. Price dispersion dominates in all regimes. The ToT gap term is the new open-economy contribution relative to Rubbo closed-economy.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11612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Related Literature &amp; Next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7132320" cy="5852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Literature Position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68580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26464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Rubbo (2024) Econometrica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1188720" cy="256032"/>
          </a:xfrm>
          <a:prstGeom prst="roundRect">
            <a:avLst>
              <a:gd name="adj" fmla="val 10714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19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</a:rPr>
              <a:t>Foundation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74520" y="171907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Closed-economy N-sector NK with networks; DC index; divine coincidence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395728"/>
            <a:ext cx="68580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50592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Galí &amp; Monacelli (2005) 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1188720" cy="256032"/>
          </a:xfrm>
          <a:prstGeom prst="roundRect">
            <a:avLst>
              <a:gd name="adj" fmla="val 10714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43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</a:rPr>
              <a:t>SOE Baseline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74520" y="2743200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One-sector SOE; exchange rate as shock absorber; open-economy NK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419856"/>
            <a:ext cx="68580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74720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Qiu et al. (2025/26) JME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767328"/>
            <a:ext cx="1188720" cy="256032"/>
          </a:xfrm>
          <a:prstGeom prst="roundRect">
            <a:avLst>
              <a:gd name="adj" fmla="val 10714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7673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</a:rPr>
              <a:t>Closest Paper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74520" y="3767328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Monetary policy + production networks in open economy; static version of this model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443984"/>
            <a:ext cx="68580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498848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La'O &amp; Tahbaz-Salehi (2022) Ecta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791456"/>
            <a:ext cx="1188720" cy="256032"/>
          </a:xfrm>
          <a:prstGeom prst="roundRect">
            <a:avLst>
              <a:gd name="adj" fmla="val 10714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7914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</a:rPr>
              <a:t>Network Optimality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874520" y="4791456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Optimal monetary policy in closed-economy production networks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5468112"/>
            <a:ext cx="68580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522976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Silva (2024) Boston Fed WP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815584"/>
            <a:ext cx="1188720" cy="256032"/>
          </a:xfrm>
          <a:prstGeom prst="roundRect">
            <a:avLst>
              <a:gd name="adj" fmla="val 10714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8155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</a:rPr>
              <a:t>SOE + Networks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874520" y="5815584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Flexible-price network accounting for Chile / UK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635240" y="822960"/>
            <a:ext cx="4251960" cy="58521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18120" y="91440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818120" y="1408176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1408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138160" y="137160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</a:rPr>
              <a:t>Implement proper Blanchard-Kahn solver (Sims gensys / Klein QZ decomposition) to replace MSV approximation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7818120" y="2103120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18120" y="2103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138160" y="2066544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</a:rPr>
              <a:t>Calibrate to actual I-O tables for a commodity exporter (e.g. Norway, Nigeria, Gulf states)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7818120" y="2798064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18120" y="2798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138160" y="276148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</a:rPr>
              <a:t>Estimate Calvo parameters δᵢ from micro-price data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7818120" y="3493008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18120" y="3493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138160" y="3456432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</a:rPr>
              <a:t>Add sticky wages: another source of Divine Coincidence breakdown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7818120" y="4187952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18120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138160" y="4151376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</a:rPr>
              <a:t>Endogenous network: allow firm entry/exit to change Ω^H dynamically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7818120" y="4882896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18120" y="4882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138160" y="484632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</a:rPr>
              <a:t>Empirical IRFs via SVAR to validate model-implied responses</a:t>
            </a:r>
            <a:endParaRPr lang="en-US" sz="980" dirty="0"/>
          </a:p>
        </p:txBody>
      </p:sp>
      <p:sp>
        <p:nvSpPr>
          <p:cNvPr id="51" name="Shape 49"/>
          <p:cNvSpPr/>
          <p:nvPr/>
        </p:nvSpPr>
        <p:spPr>
          <a:xfrm>
            <a:off x="7818120" y="5577840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18120" y="5577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138160" y="5541264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</a:rPr>
              <a:t>Extend to N &gt; 3 sectors using real supply-use tables</a:t>
            </a: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2026-07-09T18:32:25Z</dcterms:created>
  <dcterms:modified xsi:type="dcterms:W3CDTF">2026-07-09T18:32:25Z</dcterms:modified>
</cp:coreProperties>
</file>